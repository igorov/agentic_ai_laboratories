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3"/>
  </p:sldMasterIdLst>
  <p:notesMasterIdLst>
    <p:notesMasterId r:id="rId4"/>
  </p:notesMasterIdLst>
  <p:sldIdLst>
    <p:sldId id="262" r:id="rId11"/>
    <p:sldId id="263" r:id="rId12"/>
    <p:sldId id="256" r:id="rId5"/>
    <p:sldId id="257" r:id="rId6"/>
    <p:sldId id="258" r:id="rId7"/>
    <p:sldId id="264" r:id="rId13"/>
    <p:sldId id="259" r:id="rId8"/>
    <p:sldId id="260" r:id="rId9"/>
    <p:sldId id="265" r:id="rId14"/>
    <p:sldId id="261" r:id="rId10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70600" y="79790"/>
            <a:ext cx="7602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FF7A5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543024" y="1759324"/>
            <a:ext cx="8058300" cy="16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2912403" y="2042629"/>
            <a:ext cx="3496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FF7A5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LLMOps Lifecycle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assets/logo.png" id="33" name="Google Shape;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164592"/>
            <a:ext cx="1417320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/>
          <p:nvPr/>
        </p:nvSpPr>
        <p:spPr>
          <a:xfrm>
            <a:off x="0" y="4928616"/>
            <a:ext cx="9144000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Solution Architect · Módulo 5 · Sesión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368046" y="1143000"/>
            <a:ext cx="1298448" cy="150876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368046" y="1234440"/>
            <a:ext cx="12984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413766" y="1673352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22910" y="196596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Prompt engineering, chains, RAG pipelines en local/notebook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1602486" y="1645920"/>
            <a:ext cx="2514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1789938" y="1143000"/>
            <a:ext cx="1298448" cy="150876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1789938" y="1234440"/>
            <a:ext cx="12984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1835658" y="1673352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1844802" y="196596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Promptfoo, eval datasets, golden sets, métricas offline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3024378" y="1645920"/>
            <a:ext cx="2514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3211830" y="1143000"/>
            <a:ext cx="1298448" cy="150876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3211830" y="1234440"/>
            <a:ext cx="12984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3257550" y="1673352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3266694" y="196596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Réplica de prod: tests e2e, pruebas de carga y validación de seguridad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446270" y="1645920"/>
            <a:ext cx="2514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4633722" y="1143000"/>
            <a:ext cx="1298448" cy="150876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4633722" y="1234440"/>
            <a:ext cx="12984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679442" y="1673352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Canary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688586" y="196596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Tráfico gradual 5% → 25% → 100%, con rollback automático si se viola un SLO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5868162" y="1645920"/>
            <a:ext cx="2514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055614" y="1143000"/>
            <a:ext cx="1298448" cy="150876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055614" y="1234440"/>
            <a:ext cx="12984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🟢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101334" y="1673352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110478" y="196596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Servicio en vivo con SLOs y autoscaling activos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7290054" y="1645920"/>
            <a:ext cx="2514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477506" y="1143000"/>
            <a:ext cx="1298448" cy="150876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7477506" y="1234440"/>
            <a:ext cx="12984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7523226" y="1673352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7532370" y="196596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Tracing, costos, online evals, drift y feedback de usuarios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6"/>
          <p:cNvCxnSpPr/>
          <p:nvPr/>
        </p:nvCxnSpPr>
        <p:spPr>
          <a:xfrm rot="10800000">
            <a:off x="1017270" y="2880360"/>
            <a:ext cx="7109460" cy="0"/>
          </a:xfrm>
          <a:prstGeom prst="straightConnector1">
            <a:avLst/>
          </a:prstGeom>
          <a:noFill/>
          <a:ln cap="flat" cmpd="sng" w="19050">
            <a:solidFill>
              <a:srgbClr val="FF7A54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6" name="Google Shape;66;p6"/>
          <p:cNvCxnSpPr/>
          <p:nvPr/>
        </p:nvCxnSpPr>
        <p:spPr>
          <a:xfrm>
            <a:off x="1017270" y="265176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FF7A54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7" name="Google Shape;67;p6"/>
          <p:cNvCxnSpPr/>
          <p:nvPr/>
        </p:nvCxnSpPr>
        <p:spPr>
          <a:xfrm>
            <a:off x="8126730" y="265176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FF7A5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8" name="Google Shape;68;p6"/>
          <p:cNvSpPr/>
          <p:nvPr/>
        </p:nvSpPr>
        <p:spPr>
          <a:xfrm>
            <a:off x="368046" y="2935224"/>
            <a:ext cx="84079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Feedback loop: Monitoring → vuelve a Development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68046" y="3337560"/>
            <a:ext cx="8407908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642366" y="3337560"/>
            <a:ext cx="78592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Cada transición requiere gates automatizados: las evals deben pasar el umbral definido, los tests e2e deben estar en verde y las métricas del canary deben mantenerse dentro de los SLOs antes de avanzar a la siguiente etapa.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Observability Stack — Comparativa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assets/logo.png" id="77" name="Google Shape;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164592"/>
            <a:ext cx="1417320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7"/>
          <p:cNvSpPr/>
          <p:nvPr/>
        </p:nvSpPr>
        <p:spPr>
          <a:xfrm>
            <a:off x="0" y="4928616"/>
            <a:ext cx="9144000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Solution Architect · Módulo 5 · Sesión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57200" y="804672"/>
            <a:ext cx="8229600" cy="41148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640080" y="80467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Plataforma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2743200" y="80467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Modelo de despliegue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663440" y="804672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Enfoque principal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57200" y="1307592"/>
            <a:ext cx="82296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640080" y="1307592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LangFuse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2743200" y="1307592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OSS (MIT) · self-host/cloud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663440" y="1307592"/>
            <a:ext cx="4297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Tracing self-hosted, gestión de prompts, evals y datasets integrados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57200" y="1911096"/>
            <a:ext cx="82296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640080" y="1911096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LangSmith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2743200" y="1911096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SaaS · self-host Enterprise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663440" y="1911096"/>
            <a:ext cx="4297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Tracing, datasets y evals; nativo LangGraph, usable sin LangChain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57200" y="2514600"/>
            <a:ext cx="82296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640080" y="251460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Helicone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743200" y="251460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OSS · proxy / gateway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63440" y="2514600"/>
            <a:ext cx="4297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Proxy sin instrumentar código: logging, caching, costo por request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57200" y="3118104"/>
            <a:ext cx="82296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640080" y="3118104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Arize Phoenix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2743200" y="3118104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OSS (ELv2) · OTel nativo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663440" y="3118104"/>
            <a:ext cx="4297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Tracing OpenTelemetry/OpenInference, evals y análisis de drift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57200" y="3721608"/>
            <a:ext cx="82296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40080" y="3721608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Weights &amp; Biases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743200" y="3721608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SaaS · self-host Enterprise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663440" y="3721608"/>
            <a:ext cx="4297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Experiment tracking, W&amp;B Weave para trazas y evaluación de LLMs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457200" y="4443984"/>
            <a:ext cx="8229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Criterios enterprise: </a:t>
            </a:r>
            <a:r>
              <a:rPr sz="950" b="0" i="0">
                <a:solidFill>
                  <a:srgbClr val="64748B"/>
                </a:solidFill>
                <a:latin typeface="Calibri"/>
              </a:rPr>
              <a:t>residencia de datos (self-host), soporte OpenTelemetry, SSO/RBAC y retención/enmascarado de PII. Promptfoo no es observabilidad: es la herramienta de evals y red-teaming que corre en CI.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Distributed Tracing para Cadenas LLM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assets/logo.png"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164592"/>
            <a:ext cx="1417320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/>
          <p:nvPr/>
        </p:nvSpPr>
        <p:spPr>
          <a:xfrm>
            <a:off x="0" y="4928616"/>
            <a:ext cx="9144000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Solution Architect · Módulo 5 · Sesión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" y="914400"/>
            <a:ext cx="397764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621792" y="10515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🧵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1234440" y="107899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85800" y="1536192"/>
            <a:ext cx="352044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Representa una ejecución completa end-to-end: desde el request del usuario hasta la respuesta final, incluyendo todas las llamadas internas.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709160" y="914400"/>
            <a:ext cx="397764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4873752" y="10515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486400" y="107899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Span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937760" y="1536192"/>
            <a:ext cx="352044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Unidad de trabajo dentro del trace: llamada al LLM, búsqueda en vector DB, tool. Tiene inicio, fin, span padre y atributos (convenciones OTel GenAI).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57200" y="2770632"/>
            <a:ext cx="397764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621792" y="290779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234440" y="2935224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Token tracking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85800" y="3392424"/>
            <a:ext cx="352044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span de LLM registra tokens de entrada/salida por modelo, incluidos tokens cacheados y de razonamiento, que se facturan distinto.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709160" y="2770632"/>
            <a:ext cx="397764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4873752" y="290779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486400" y="2935224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Cost attribution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937760" y="3392424"/>
            <a:ext cx="352044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Costo por span = tokens × precio del modelo; se agrega por request, usuario, tenant o feature vía metadata del trace, para FinOps y chargeback.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Evaluación en Producción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assets/logo.png"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164592"/>
            <a:ext cx="1417320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9"/>
          <p:cNvSpPr/>
          <p:nvPr/>
        </p:nvSpPr>
        <p:spPr>
          <a:xfrm>
            <a:off x="0" y="4928616"/>
            <a:ext cx="9144000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Solution Architect · Módulo 5 · Sesión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57200" y="914400"/>
            <a:ext cx="397764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640080" y="1078992"/>
            <a:ext cx="384048" cy="384048"/>
          </a:xfrm>
          <a:prstGeom prst="ellipse">
            <a:avLst/>
          </a:prstGeom>
          <a:solidFill>
            <a:srgbClr val="FF7A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640080" y="10789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234440" y="107899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Online Evals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85800" y="1536192"/>
            <a:ext cx="352044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Evaluadores (LLM-as-judge o reglas) corren de forma asíncrona sobre una muestra del tráfico real, sin bloquear ni encarecer la respuesta al usuario.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4709160" y="914400"/>
            <a:ext cx="397764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4892040" y="1078992"/>
            <a:ext cx="384048" cy="384048"/>
          </a:xfrm>
          <a:prstGeom prst="ellipse">
            <a:avLst/>
          </a:prstGeom>
          <a:solidFill>
            <a:srgbClr val="FF7A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4892040" y="10789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486400" y="107899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Human Feedback Loops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937760" y="1536192"/>
            <a:ext cx="352044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Thumbs up/down, correcciones y señales implícitas se ligan al trace_id y alimentan el golden set y los datasets de mejora.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57200" y="2770632"/>
            <a:ext cx="397764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640080" y="2935224"/>
            <a:ext cx="384048" cy="384048"/>
          </a:xfrm>
          <a:prstGeom prst="ellipse">
            <a:avLst/>
          </a:prstGeom>
          <a:solidFill>
            <a:srgbClr val="FF7A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640080" y="29352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234440" y="2935224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Drift Detection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85800" y="3392424"/>
            <a:ext cx="352044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Cambios en la distribución de inputs (temas, idioma, longitud vía embeddings), outputs o scores de calidad respecto a una baseline.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709160" y="2770632"/>
            <a:ext cx="397764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4892040" y="2935224"/>
            <a:ext cx="384048" cy="384048"/>
          </a:xfrm>
          <a:prstGeom prst="ellipse">
            <a:avLst/>
          </a:prstGeom>
          <a:solidFill>
            <a:srgbClr val="FF7A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4892040" y="29352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486400" y="2935224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A/B Testing de Prompts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937760" y="3392424"/>
            <a:ext cx="352044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Variantes de prompt o modelo sobre segmentos de tráfico; se decide con significancia estadística y métricas guardrail (costo, latencia, seguridad).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CI/CD para IA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assets/logo.png"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164592"/>
            <a:ext cx="1417320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0" y="4928616"/>
            <a:ext cx="9144000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Solution Architect · Módulo 5 · Sesión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57200" y="914400"/>
            <a:ext cx="2651760" cy="329184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457200" y="1078992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🧹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94360" y="1600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Prompt CI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94360" y="1920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Linting de prompts + eval gates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640080" y="2331720"/>
            <a:ext cx="2286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PR que modifica un prompt corre Promptfoo (asserts deterministas + LLM-rubric) contra el golden set. Si alguna aserción falla, el job falla y bloquea el merge.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3246120" y="914400"/>
            <a:ext cx="2651760" cy="329184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3246120" y="1078992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3383280" y="1600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Model CI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Benchmark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3429000" y="2331720"/>
            <a:ext cx="2286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 cambiar de modelo o versión (incluidos alias que el proveedor actualiza), un benchmark suite compara calidad, latencia y costo vs. la baseline.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035040" y="914400"/>
            <a:ext cx="2651760" cy="329184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6035040" y="1078992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172200" y="1600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Integration CI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172200" y="1920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Tests end-to-end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6217920" y="2331720"/>
            <a:ext cx="2286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Pruebas que ejercitan la cadena completa: RAG + tools + memory, validando que la integración entre componentes no se rompa.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57200" y="43159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GitHub Actions orquesta las tres capas: los PR que tocan prompts disparan prompt CI (path filters); un cambio de modelo dispara model CI; cada release corre integration CI antes del canary.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Pruebas de Carga, Autoscaling &amp; SLOs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assets/logo.png"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164592"/>
            <a:ext cx="1417320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/>
          <p:nvPr/>
        </p:nvSpPr>
        <p:spPr>
          <a:xfrm>
            <a:off x="0" y="4928616"/>
            <a:ext cx="9144000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Solution Architect · Módulo 5 · Sesión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457200" y="914400"/>
            <a:ext cx="3977640" cy="3337560"/>
          </a:xfrm>
          <a:prstGeom prst="roundRect">
            <a:avLst>
              <a:gd fmla="val 164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640080" y="1078992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⚡  Pruebas de Carga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685800" y="155448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Locust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85800" y="18288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Framework Python: usuarios virtuales con carga realista (prompts de longitud variable, respuestas en streaming).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85800" y="24231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85800" y="269748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Scripts JavaScript con thresholds que hacen fallar el pipeline; ideal para CI/CD.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85800" y="329184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Métricas propias de LLM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85800" y="356616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TTFT, tokens/s por usuario, latencia total, throughput (req/s y tokens/s) y tasa de errores (incl. 429) hasta la saturación.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709160" y="914400"/>
            <a:ext cx="3977640" cy="3337560"/>
          </a:xfrm>
          <a:prstGeom prst="roundRect">
            <a:avLst>
              <a:gd fmla="val 164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4892040" y="1078992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📐  Autoscaling Policies &amp; SLOs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937760" y="155448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Autoscaling policies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937760" y="18288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Escalar por concurrencia, cola de requests o uso de KV cache (vLLM/TGI), no solo GPU util. Con APIs gestionadas el límite real son las cuotas TPM/RPM.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937760" y="24231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SLO de latencia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937760" y="269748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Ej: TTFT p95 &lt; 1.5 s en streaming y latencia total p95 &lt; 8 s; define alertas y scale-out.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937760" y="329184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4"/>
                </a:solidFill>
                <a:latin typeface="Calibri"/>
                <a:ea typeface="Calibri"/>
                <a:cs typeface="Calibri"/>
                <a:sym typeface="Calibri"/>
              </a:rPr>
              <a:t>SLO de disponibilidad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937760" y="356616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Ej: 99.9% de requests exitosos por mes; el error budget guía cuánto riesgo se puede tomar en releases.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73736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F7A54"/>
                </a:solidFill>
                <a:latin typeface="Calibri"/>
              </a:rPr>
              <a:t>AI SOLUTION ARCHITECT · MÓDULO 5 · SESIÓN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LLMOps, Observability &amp;</a:t>
            </a:r>
          </a:p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Defensa del Enterprise AI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7680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Del prototipo a producción: ciclo de vida, trazabilidad, evaluación continua, CI/CD y SLOs para sistemas de IA generativa.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4048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LangFuse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7048" y="38404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527048" y="3840480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LangSmith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1176" y="38404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551176" y="3840480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Arize Phoenix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58183" y="384048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58183" y="3840480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Helicone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6592" y="38404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36592" y="3840480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Promptfoo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84048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3840480"/>
            <a:ext cx="73152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Locust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1968" y="384048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01968" y="3840480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GitHub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24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Stack de la sesión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2400" b="1" i="0">
                <a:solidFill>
                  <a:srgbClr val="FF7A54"/>
                </a:solidFill>
                <a:latin typeface="Calibri"/>
              </a:rPr>
              <a:t>Agenda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"/>
            <a:ext cx="141732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928616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AI Solution Architect · Módulo 5 · Sesión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26517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40080" y="1161288"/>
            <a:ext cx="384048" cy="384048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1612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73352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LLMOps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93391"/>
            <a:ext cx="2286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De development a monitoring, con gates entre etapas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960120"/>
            <a:ext cx="26517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429000" y="1161288"/>
            <a:ext cx="384048" cy="384048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29000" y="11612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673352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Observability &amp; Tracing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993391"/>
            <a:ext cx="2286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Stack de herramientas, traces, spans, tokens y costos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960120"/>
            <a:ext cx="26517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217920" y="1161288"/>
            <a:ext cx="384048" cy="384048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0" y="11612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673352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Evaluación en producción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93391"/>
            <a:ext cx="2286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Online evals, feedback humano, drift y A/B de prompts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788920"/>
            <a:ext cx="26517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0080" y="2990088"/>
            <a:ext cx="384048" cy="384048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" y="29900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02152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CI/CD para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22191"/>
            <a:ext cx="2286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Prompt CI, model CI e integration CI con GitHub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2788920"/>
            <a:ext cx="26517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3429000" y="2990088"/>
            <a:ext cx="384048" cy="384048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29000" y="29900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502152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Carga, autoscaling &amp; SLOs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822191"/>
            <a:ext cx="2286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Locust/k6, métricas de inferencia y error budgets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788920"/>
            <a:ext cx="26517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217920" y="2990088"/>
            <a:ext cx="384048" cy="384048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0" y="29900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502152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Defensa del proyecto final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822191"/>
            <a:ext cx="2286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Enterprise AI Core: formato, rúbrica y entregable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2400" b="1" i="0">
                <a:solidFill>
                  <a:srgbClr val="FF7A54"/>
                </a:solidFill>
                <a:latin typeface="Calibri"/>
              </a:rPr>
              <a:t>Anatomía de un Trace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"/>
            <a:ext cx="141732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928616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AI Solution Architect · Módulo 5 · Sesión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68680"/>
            <a:ext cx="82296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trace: POST /chat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  ·   session_id, user_id, prompt_version como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960120"/>
            <a:ext cx="2697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alibri"/>
              </a:rPr>
              <a:t>Tokens · Costo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chat_request (root)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417320"/>
            <a:ext cx="3291840" cy="146304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852159" y="1353312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2840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53312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/>
            <a:r>
              <a:rPr sz="950" b="1" i="0">
                <a:solidFill>
                  <a:srgbClr val="64748B"/>
                </a:solidFill>
                <a:latin typeface="Calibri"/>
              </a:rPr>
              <a:t>3,872 tok · $0.0058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1700784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guardrail.input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1764792"/>
            <a:ext cx="139091" cy="146304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99411" y="1700784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120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00784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PII +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048255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embedding.query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3691" y="2112263"/>
            <a:ext cx="104318" cy="146304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803730" y="2048255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90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48255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12 tok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2395727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retriever.vector_search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58010" y="2459735"/>
            <a:ext cx="312956" cy="146304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116687" y="2395727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270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395727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top_k =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2743199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reranker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70967" y="2807207"/>
            <a:ext cx="243410" cy="146304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60098" y="2743199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210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743199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8 → 4 chunks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090671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llm.generate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14378" y="3154679"/>
            <a:ext cx="2329788" cy="146304"/>
          </a:xfrm>
          <a:prstGeom prst="roundRect">
            <a:avLst>
              <a:gd name="adj" fmla="val 30000"/>
            </a:avLst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89886" y="3090671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2010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090671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/>
            <a:r>
              <a:rPr sz="950" b="1" i="0">
                <a:solidFill>
                  <a:srgbClr val="FF7A54"/>
                </a:solidFill>
                <a:latin typeface="Calibri"/>
              </a:rPr>
              <a:t>3,450 in / 410 out · $0.0058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3438143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guardrail.output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44166" y="3502151"/>
            <a:ext cx="162273" cy="146304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852159" y="3438143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140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438143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3803903"/>
            <a:ext cx="365760" cy="1828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0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0818" y="3803903"/>
            <a:ext cx="365760" cy="1828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1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9917" y="3803903"/>
            <a:ext cx="365760" cy="1828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2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Atributos estándar (OTel GenAI): </a:t>
            </a:r>
            <a:r>
              <a:rPr sz="1000" b="0" i="0">
                <a:solidFill>
                  <a:srgbClr val="64748B"/>
                </a:solidFill>
                <a:latin typeface="Calibri"/>
              </a:rPr>
              <a:t>gen_ai.request.model, gen_ai.usage.input_tokens, gen_ai.usage.output_tokens. Las online evals corren asíncronas, fuera de este trace. El 70% del tiempo está en llm.generate: ahí se optimiza (caching, modelo más pequeño, menos contexto).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2400" b="1" i="0">
                <a:solidFill>
                  <a:srgbClr val="FF7A54"/>
                </a:solidFill>
                <a:latin typeface="Calibri"/>
              </a:rPr>
              <a:t>Prompt CI en la Práctica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"/>
            <a:ext cx="141732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928616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AI Solution Architect · Módulo 5 · Sesión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3977639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ourier New"/>
              </a:rPr>
              <a:t>.github/workflows/prompt-ci.yml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3977639" cy="324612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3794760" cy="3108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name: prompt-ci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on: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pull_request: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paths: ["prompts/**", "evals/**",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      "promptfooconfig.yaml"]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jobs: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eval-gate: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runs-on: ubuntu-latest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steps: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- uses: actions/checkout@v4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- uses: actions/setup-node@v4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  with: { node-version: 20 }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- name: Promptfoo eval gate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  # fijar la versión de promptfoo en prod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  run: npx promptfoo@latest eval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       -c promptfooconfig.yaml -o results.json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  env: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    OPENAI_API_KEY: ${{ secrets.OPENAI_API_KEY }}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- uses: actions/upload-artifact@v4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  if: always()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  with: { name: eval-results, path: results.json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841248"/>
            <a:ext cx="3977639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ourier New"/>
              </a:rPr>
              <a:t>promptfooconfig.yaml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115568"/>
            <a:ext cx="3977639" cy="324612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18888" y="1188720"/>
            <a:ext cx="3794760" cy="3108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description: Asistente de soporte - golden set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prompts: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- file://prompts/asistente_v3.txt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providers: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- openai:gpt-4o-mini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defaultTest: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assert: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- type: llm-rubric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value: &gt;-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  Responde solo con información del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  contexto y no inventa datos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- type: cost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      threshold: 0.002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# columnas vars + __expected por caso</a:t>
            </a:r>
          </a:p>
          <a:p>
            <a:pPr algn="l"/>
            <a:r>
              <a:rPr sz="800" b="0" i="0">
                <a:solidFill>
                  <a:srgbClr val="E2E8F0"/>
                </a:solidFill>
                <a:latin typeface="Courier New"/>
              </a:rPr>
              <a:t>tests: file://evals/golden_set.csv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43984"/>
            <a:ext cx="8229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Gate: </a:t>
            </a:r>
            <a:r>
              <a:rPr sz="1000" b="0" i="0">
                <a:solidFill>
                  <a:srgbClr val="64748B"/>
                </a:solidFill>
                <a:latin typeface="Calibri"/>
              </a:rPr>
              <a:t>promptfoo eval termina con exit code ≠ 0 si falla alguna aserción → el job falla y la branch protection bloquea el merge. El reporte queda como artifact para revisar regresiones.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2400" b="1" i="0">
                <a:solidFill>
                  <a:srgbClr val="FF7A54"/>
                </a:solidFill>
                <a:latin typeface="Calibri"/>
              </a:rPr>
              <a:t>SLOs para un Servicio de IA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"/>
            <a:ext cx="141732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928616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AI Solution Architect · Módulo 5 · Sesión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193852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166420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FF7A54"/>
                </a:solidFill>
                <a:latin typeface="Calibri"/>
              </a:rPr>
              <a:t>99.9%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66420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Disponibilidad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1664208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Requests exitosos (no 5xx ni timeouts) por ventana de 30 días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1176" y="914400"/>
            <a:ext cx="193852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688336" y="1051560"/>
            <a:ext cx="166420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FF7A54"/>
                </a:solidFill>
                <a:latin typeface="Calibri"/>
              </a:rPr>
              <a:t>&lt; 1.5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1737360"/>
            <a:ext cx="166420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Latencia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2057400"/>
            <a:ext cx="1664208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TTFT p95 en streaming; latencia total p95 aparte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2" y="914400"/>
            <a:ext cx="193852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82312" y="1051560"/>
            <a:ext cx="166420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FF7A54"/>
                </a:solidFill>
                <a:latin typeface="Calibri"/>
              </a:rPr>
              <a:t>≥ 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1737360"/>
            <a:ext cx="166420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Calidad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057400"/>
            <a:ext cx="1664208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Pass rate de online evals sobre la muestra, ventana de 7 días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39128" y="914400"/>
            <a:ext cx="193852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288" y="1051560"/>
            <a:ext cx="166420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FF7A54"/>
                </a:solidFill>
                <a:latin typeface="Calibri"/>
              </a:rPr>
              <a:t>≤ $0.01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737360"/>
            <a:ext cx="166420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Costo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2057400"/>
            <a:ext cx="1664208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Costo p95 por request, atribuido desde los traces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6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3364992"/>
            <a:ext cx="777240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alibri"/>
              </a:rPr>
              <a:t>Error budget: 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99.9% mensual ≈ 43 min de indisponibilidad. Si el budget se agota, se congelan releases de prompts y modelos y se prioriza confiabilidad.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alibri"/>
              </a:rPr>
              <a:t>Calidad y costo 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no son SLOs clásicos de SRE, pero en IA degradan sin que el servicio "caiga": medirlos con el mismo rigor (objetivo, ventana, alerta). Valores ilustrativos: se fijan con el negocio.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2400" b="1" i="0">
                <a:solidFill>
                  <a:srgbClr val="FF7A54"/>
                </a:solidFill>
                <a:latin typeface="Calibri"/>
              </a:rPr>
              <a:t>Defensa del Enterprise AI Core — Formato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"/>
            <a:ext cx="141732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928616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AI Solution Architect · Módulo 5 · Sesión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12984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298448" cy="41148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828800"/>
            <a:ext cx="1170432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Problema de negocio y alcance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" y="24231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" y="242316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950" b="1" i="0">
                <a:solidFill>
                  <a:srgbClr val="FF7A54"/>
                </a:solidFill>
                <a:latin typeface="Calibri"/>
              </a:rPr>
              <a:t>3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344" y="1691640"/>
            <a:ext cx="237744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200" b="0" i="0">
                <a:solidFill>
                  <a:srgbClr val="FF7A54"/>
                </a:solidFill>
                <a:latin typeface="Calibri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92224" y="1005840"/>
            <a:ext cx="12984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92224" y="1097280"/>
            <a:ext cx="1298448" cy="41148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🏛️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7943" y="155448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Arquitectura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6231" y="1828800"/>
            <a:ext cx="1170432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Diagrama, decisiones y trade-offs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75688" y="24231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075688" y="242316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950" b="1" i="0">
                <a:solidFill>
                  <a:srgbClr val="FF7A54"/>
                </a:solidFill>
                <a:latin typeface="Calibri"/>
              </a:rPr>
              <a:t>7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1691640"/>
            <a:ext cx="237744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200" b="0" i="0">
                <a:solidFill>
                  <a:srgbClr val="FF7A54"/>
                </a:solidFill>
                <a:latin typeface="Calibri"/>
              </a:rPr>
              <a:t>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18688" y="1005840"/>
            <a:ext cx="12984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218688" y="1097280"/>
            <a:ext cx="1298448" cy="41148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155448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Seguridad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1828800"/>
            <a:ext cx="1170432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Amenazas, guardrails, IAM y PII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2152" y="24231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02152" y="242316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950" b="1" i="0">
                <a:solidFill>
                  <a:srgbClr val="FF7A54"/>
                </a:solidFill>
                <a:latin typeface="Calibri"/>
              </a:rPr>
              <a:t>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1691640"/>
            <a:ext cx="237744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200" b="0" i="0">
                <a:solidFill>
                  <a:srgbClr val="FF7A54"/>
                </a:solidFill>
                <a:latin typeface="Calibri"/>
              </a:rPr>
              <a:t>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45152" y="1005840"/>
            <a:ext cx="12984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45152" y="1097280"/>
            <a:ext cx="1298448" cy="41148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155448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Observabilidad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1828800"/>
            <a:ext cx="1170432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Demo: trace real, costos y evals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28616" y="24231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928616" y="242316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950" b="1" i="0">
                <a:solidFill>
                  <a:srgbClr val="FF7A54"/>
                </a:solidFill>
                <a:latin typeface="Calibri"/>
              </a:rPr>
              <a:t>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8736" y="1691640"/>
            <a:ext cx="237744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200" b="0" i="0">
                <a:solidFill>
                  <a:srgbClr val="FF7A54"/>
                </a:solidFill>
                <a:latin typeface="Calibri"/>
              </a:rPr>
              <a:t>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71616" y="1005840"/>
            <a:ext cx="12984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071616" y="1097280"/>
            <a:ext cx="1298448" cy="41148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17336" y="155448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Operación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35624" y="1828800"/>
            <a:ext cx="1170432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CI/CD, carga, SLOs y rollback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24231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55080" y="242316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950" b="1" i="0">
                <a:solidFill>
                  <a:srgbClr val="FF7A54"/>
                </a:solidFill>
                <a:latin typeface="Calibri"/>
              </a:rPr>
              <a:t>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1691640"/>
            <a:ext cx="237744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200" b="0" i="0">
                <a:solidFill>
                  <a:srgbClr val="FF7A54"/>
                </a:solidFill>
                <a:latin typeface="Calibri"/>
              </a:rPr>
              <a:t>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0" y="1005840"/>
            <a:ext cx="12984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498080" y="1097280"/>
            <a:ext cx="1298448" cy="41148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1554480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Panel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2088" y="1828800"/>
            <a:ext cx="1170432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Preguntas y defensa de decisiones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81544" y="24231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81544" y="242316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950" b="1" i="0">
                <a:solidFill>
                  <a:srgbClr val="FF7A54"/>
                </a:solidFill>
                <a:latin typeface="Calibri"/>
              </a:rPr>
              <a:t>10–15 min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3154680"/>
            <a:ext cx="84124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0080" y="3200400"/>
            <a:ext cx="7863840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Mostrar evidencia, no promesas.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Cada afirmación debe respaldarse con un artefacto: el trace en LangFuse/Phoenix, el reporte de Promptfoo del último PR, el resultado de Locust/k6 con el punto de saturación y el dashboard de SLOs. Llevar los ADRs a mano para justificar cada decisión ante el panel.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2400" b="1" i="0">
                <a:solidFill>
                  <a:srgbClr val="FF7A54"/>
                </a:solidFill>
                <a:latin typeface="Calibri"/>
              </a:rPr>
              <a:t>Rúbrica del Panel de Expertos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"/>
            <a:ext cx="141732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928616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AI Solution Architect · Módulo 5 · Sesión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8288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Criterio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868680"/>
            <a:ext cx="50292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Qué espera ver el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868680"/>
            <a:ext cx="8229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Peso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82296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18288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F7A54"/>
                </a:solidFill>
                <a:latin typeface="Calibri"/>
              </a:rPr>
              <a:t>Arquitectura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280160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Diagrama C4, ADRs, flujo de datos, decisiones y trade-offs justificados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280160"/>
            <a:ext cx="8229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FF7A54"/>
                </a:solidFill>
                <a:latin typeface="Calibri"/>
              </a:rPr>
              <a:t>25%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10512"/>
            <a:ext cx="82296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1810512"/>
            <a:ext cx="18288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F7A54"/>
                </a:solidFill>
                <a:latin typeface="Calibri"/>
              </a:rPr>
              <a:t>Seguridad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810512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Prompt injection, PII, IAM mínimo privilegio, secretos, OWASP LLM Top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810512"/>
            <a:ext cx="8229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FF7A54"/>
                </a:solidFill>
                <a:latin typeface="Calibri"/>
              </a:rPr>
              <a:t>20%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340864"/>
            <a:ext cx="82296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2340864"/>
            <a:ext cx="18288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F7A54"/>
                </a:solidFill>
                <a:latin typeface="Calibri"/>
              </a:rPr>
              <a:t>Observabilidad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340864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Tracing end-to-end, costo por request, dashboards y alertas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340864"/>
            <a:ext cx="8229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FF7A54"/>
                </a:solidFill>
                <a:latin typeface="Calibri"/>
              </a:rPr>
              <a:t>15%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71216"/>
            <a:ext cx="82296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" y="2871216"/>
            <a:ext cx="18288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F7A54"/>
                </a:solidFill>
                <a:latin typeface="Calibri"/>
              </a:rPr>
              <a:t>Calidad y evals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2871216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Golden set, eval gates en CI, online evals y feedback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871216"/>
            <a:ext cx="8229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FF7A54"/>
                </a:solidFill>
                <a:latin typeface="Calibri"/>
              </a:rPr>
              <a:t>15%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401568"/>
            <a:ext cx="82296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3401568"/>
            <a:ext cx="18288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F7A54"/>
                </a:solidFill>
                <a:latin typeface="Calibri"/>
              </a:rPr>
              <a:t>Operación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401568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CI/CD de 3 capas, canary + rollback, prueba de carga, autoscaling, SLOs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401568"/>
            <a:ext cx="8229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FF7A54"/>
                </a:solidFill>
                <a:latin typeface="Calibri"/>
              </a:rPr>
              <a:t>15%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3931920"/>
            <a:ext cx="18288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F7A54"/>
                </a:solidFill>
                <a:latin typeface="Calibri"/>
              </a:rPr>
              <a:t>Comunicación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3931920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Claridad, manejo de preguntas y defensa de trade-offs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931920"/>
            <a:ext cx="8229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FF7A54"/>
                </a:solidFill>
                <a:latin typeface="Calibri"/>
              </a:rPr>
              <a:t>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Pesos sugeridos; ajustarlos a la rúbrica oficial del programa.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2400" b="1" i="0">
                <a:solidFill>
                  <a:srgbClr val="FF7A54"/>
                </a:solidFill>
                <a:latin typeface="Calibri"/>
              </a:rPr>
              <a:t>Preguntas que Hará el Panel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"/>
            <a:ext cx="141732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928616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AI Solution Architect · Módulo 5 · Sesión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977639" cy="116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40080" y="1078992"/>
            <a:ext cx="329184" cy="329184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051560"/>
            <a:ext cx="31546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Resiliencia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17320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¿Qué pasa si el proveedor del LLM cae o te limita con 429? ¿Hay fallback de modelo?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914400"/>
            <a:ext cx="3977639" cy="116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892040" y="1078992"/>
            <a:ext cx="329184" cy="329184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92040" y="107899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051560"/>
            <a:ext cx="31546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1417320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¿Cómo detectas una regresión de calidad tras cambiar el prompt o la versión del modelo?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12848"/>
            <a:ext cx="3977639" cy="116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0080" y="2377440"/>
            <a:ext cx="329184" cy="329184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23774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350008"/>
            <a:ext cx="31546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715768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¿Cuánto cuesta un request en promedio y en p95? ¿Qué lo controla si el tráfico crece 10x?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2212848"/>
            <a:ext cx="3977639" cy="116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892040" y="2377440"/>
            <a:ext cx="329184" cy="329184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892040" y="23774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2350008"/>
            <a:ext cx="31546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Seguridad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2715768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¿Cómo evitas que un prompt injection en un documento recuperado exfiltre datos?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11296"/>
            <a:ext cx="3977639" cy="116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40080" y="3675887"/>
            <a:ext cx="329184" cy="329184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3675887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3648456"/>
            <a:ext cx="31546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Operación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014215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¿Cuál es el criterio exacto para promover o revertir un canary? ¿Es automático?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09160" y="3511296"/>
            <a:ext cx="3977639" cy="116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892040" y="3675887"/>
            <a:ext cx="329184" cy="329184"/>
          </a:xfrm>
          <a:prstGeom prst="ellipse">
            <a:avLst/>
          </a:prstGeom>
          <a:solidFill>
            <a:srgbClr val="F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92040" y="3675887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67528" y="3648456"/>
            <a:ext cx="31546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Datos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67528" y="4014215"/>
            <a:ext cx="315468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¿Dónde se almacenan los traces, quién accede y cómo se enmascara la PII?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"/>
            <a:ext cx="7040880" cy="45720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2400" b="1" i="0">
                <a:solidFill>
                  <a:srgbClr val="FF7A54"/>
                </a:solidFill>
                <a:latin typeface="Calibri"/>
              </a:rPr>
              <a:t>Entregable: Enterprise AI Core Production-Ready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"/>
            <a:ext cx="1417320" cy="4206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928616"/>
            <a:ext cx="91440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AI Solution Architect · Módulo 5 · Sesión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1938528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193852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938528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Documentada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691640" cy="2331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Diagrama C4 (contexto, contenedores)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ADRs de decisiones clave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Flujo de datos y modelo de amenazas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Runbook de operación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1176" y="914400"/>
            <a:ext cx="1938528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551176" y="1024128"/>
            <a:ext cx="193852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1508760"/>
            <a:ext cx="1938528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Segura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1920240"/>
            <a:ext cx="1691640" cy="2331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Guardrails de input y output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Secret manager e IAM mínimo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Enmascarado de PII en logs/traces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Red-teaming con Promptfoo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2" y="914400"/>
            <a:ext cx="1938528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45152" y="1024128"/>
            <a:ext cx="193852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1508760"/>
            <a:ext cx="1938528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Observable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1920240"/>
            <a:ext cx="1691640" cy="2331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Tracing end-to-end (LangFuse/Phoenix)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Costo por request y por feature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Dashboards de SLOs y alertas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Online evals +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39128" y="914400"/>
            <a:ext cx="1938528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rotWithShape="0" algn="bl" dir="5400000" dist="25400">
              <a:srgbClr val="94A3B8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39128" y="1024128"/>
            <a:ext cx="193852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1508760"/>
            <a:ext cx="1938528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Lista para prod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1920240"/>
            <a:ext cx="1691640" cy="2331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GitHub Actions: prompt, model e integration CI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Canary con rollback automático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Reporte de carga (Locust/k6)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FF7A54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Autoscaling y SLOs definidos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43984"/>
            <a:ext cx="82296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Repositorio único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con código, IaC, prompts versionados, golden sets, workflows de CI y documentación: el panel debe poder reproducir el despliegue.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